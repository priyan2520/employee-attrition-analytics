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95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365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2286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365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2286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365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286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365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286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365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286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41080" y="36576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100584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164592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1080" y="2286000"/>
            <a:ext cx="54864" cy="5486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008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48640" y="2331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HR Data into Actionable Workforce Insights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2834640"/>
            <a:ext cx="50292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64208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Pradeep Nakate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|  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86000" y="33375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8404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5448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83080" y="38404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8892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17520" y="38404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0" y="3840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17720" y="38404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·  Data Analytics Internship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 OF EMPLOYEE ATTRITION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126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987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Voluntary Turnover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37490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4721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Expenses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60120" y="17099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financial outflow for advertising, agency fees, and intensive interview cycles.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37490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865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3500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Training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60120" y="25877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effort costs between 50%–200% of an employee's annual salary.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3172968"/>
            <a:ext cx="37490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644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2278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Gap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60120" y="346557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loss in operational output during the ramp-up time for new hires.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4050792"/>
            <a:ext cx="37490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14223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0120" y="410565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Instability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60120" y="4343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Disruptions in team morale and continuity leading to a cycle of further departures.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53128" y="960120"/>
            <a:ext cx="13716" cy="3977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00584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2920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Needs at SyntecxHub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663440" y="1417320"/>
            <a:ext cx="4023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50876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66360" y="14721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Attrition Costs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5166360" y="170992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specific roles, departments, and demographics contributing most to financial churn.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663440" y="2295144"/>
            <a:ext cx="4023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386584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66360" y="235000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Operational Burnout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5166360" y="25877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correlations between overtime hours and work-life balance ratings.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663440" y="3172968"/>
            <a:ext cx="4023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264408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66360" y="322783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Compensation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5166360" y="346557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impact of salary disparities and promotion timelines on retention rates.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4663440" y="4050792"/>
            <a:ext cx="402336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142232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166360" y="41056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HR Strategies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5166360" y="4343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reactive hiring to proactive, targeted workforce retention programs.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126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7008"/>
            <a:ext cx="274320" cy="2743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1887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6916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2011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rigorous cleaning of workforce data to ensure zero duplicates and zero missing values for high-integrity analysis.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1005840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29000" y="11430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207008"/>
            <a:ext cx="274320" cy="2743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1887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29000" y="16916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Drivers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429000" y="2011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attrition drivers through deep-dive EDA and statistical correlations to pinpoint root causes of turnover.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126480" y="1005840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07008"/>
            <a:ext cx="274320" cy="27432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18872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63640" y="16916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Insights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263640" y="2011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employee segments and compensation trends to understand the impact of age, role, and pay on retention.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57200" y="2834640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35808"/>
            <a:ext cx="274320" cy="274320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01752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94360" y="35204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Dashboards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594360" y="3840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5-page Power BI dashboard featuring 15+ dynamic DAX KPIs for real-time workforce monitoring.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3291840" y="2834640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3429000" y="29718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3035808"/>
            <a:ext cx="274320" cy="274320"/>
          </a:xfrm>
          <a:prstGeom prst="rect">
            <a:avLst/>
          </a:prstGeom>
        </p:spPr>
      </p:pic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2120" y="3017520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429000" y="35204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4" name="Text 22"/>
          <p:cNvSpPr/>
          <p:nvPr/>
        </p:nvSpPr>
        <p:spPr>
          <a:xfrm>
            <a:off x="3429000" y="3840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actionable, data-backed HR retention recommendations aimed at reducing burnout and optimizing career paths.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6126480" y="2834640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035808"/>
            <a:ext cx="274320" cy="274320"/>
          </a:xfrm>
          <a:prstGeom prst="rect">
            <a:avLst/>
          </a:prstGeom>
        </p:spPr>
      </p:pic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6760" y="3017520"/>
            <a:ext cx="228600" cy="22860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263640" y="35204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40" name="Text 26"/>
          <p:cNvSpPr/>
          <p:nvPr/>
        </p:nvSpPr>
        <p:spPr>
          <a:xfrm>
            <a:off x="6263640" y="3840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SyntecxHub leadership with a strategic framework for proactive workforce planning and stability.</a:t>
            </a:r>
            <a:endParaRPr lang="en-US" sz="1000" dirty="0"/>
          </a:p>
        </p:txBody>
      </p:sp>
      <p:sp>
        <p:nvSpPr>
          <p:cNvPr id="41" name="Shape 27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45720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Phase: Strategy &amp; Planning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6858000" y="4864608"/>
            <a:ext cx="1828800" cy="2286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6858000" y="4864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DATA-DRIVEN RETENTION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&amp; ANALYTICAL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784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896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5840" y="10789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&amp; Performance Dataset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33502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 Records   ·   35 Features   ·   Output: cleaned_employee_data.csv   ·   Status: Publicly Verified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618488"/>
            <a:ext cx="822960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6184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783080" y="161848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965960" y="16184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Cleaning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154680" y="161848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16184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26280" y="161848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16184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97880" y="161848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0760" y="16184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269480" y="1618488"/>
            <a:ext cx="18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52360" y="16184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093976"/>
            <a:ext cx="1572768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21854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185416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0352" y="25054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48640" y="28072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data types &amp; rename ID column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548640" y="31363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 formats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48640" y="346557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zero-variance cols: EmployeeCount, StandardHours, Over18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48640" y="3694176"/>
            <a:ext cx="1389888" cy="201168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" y="369417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2093976" y="2093976"/>
            <a:ext cx="1572768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185416" y="21854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185416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2185416"/>
            <a:ext cx="237744" cy="23774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2167128" y="25054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2185416" y="28072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— MonthlyIncome × 12 (annualized)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2185416" y="31363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— 5 cohorts: 18–25, 26–35, 36–45, 46–55, 55+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2185416" y="346557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Promoted — Binary flag (within 2 years)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2185416" y="3694176"/>
            <a:ext cx="1389888" cy="201168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185416" y="369417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3730752" y="2093976"/>
            <a:ext cx="1572768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822192" y="21854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822192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185416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3803904" y="25054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3822192" y="28072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correlations &amp; demographic segmentation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3822192" y="31363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executive-level charts generated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3822192" y="346557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salary &amp; age-group risk analysis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3822192" y="3694176"/>
            <a:ext cx="1389888" cy="201168"/>
          </a:xfrm>
          <a:prstGeom prst="rect">
            <a:avLst/>
          </a:prstGeom>
          <a:solidFill>
            <a:srgbClr val="E2E8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3822192" y="369417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5367528" y="2093976"/>
            <a:ext cx="1572768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458968" y="21854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458968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2185416"/>
            <a:ext cx="237744" cy="237744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5440680" y="25054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100" dirty="0"/>
          </a:p>
        </p:txBody>
      </p:sp>
      <p:sp>
        <p:nvSpPr>
          <p:cNvPr id="57" name="Text 50"/>
          <p:cNvSpPr/>
          <p:nvPr/>
        </p:nvSpPr>
        <p:spPr>
          <a:xfrm>
            <a:off x="5458968" y="28072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DAX measures authored in Power Query</a:t>
            </a:r>
            <a:endParaRPr lang="en-US" sz="850" dirty="0"/>
          </a:p>
        </p:txBody>
      </p:sp>
      <p:sp>
        <p:nvSpPr>
          <p:cNvPr id="58" name="Text 51"/>
          <p:cNvSpPr/>
          <p:nvPr/>
        </p:nvSpPr>
        <p:spPr>
          <a:xfrm>
            <a:off x="5458968" y="31363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%, Retention %, Overtime Rate %, Salary Gap</a:t>
            </a:r>
            <a:endParaRPr lang="en-US" sz="850" dirty="0"/>
          </a:p>
        </p:txBody>
      </p:sp>
      <p:sp>
        <p:nvSpPr>
          <p:cNvPr id="59" name="Text 52"/>
          <p:cNvSpPr/>
          <p:nvPr/>
        </p:nvSpPr>
        <p:spPr>
          <a:xfrm>
            <a:off x="5458968" y="346557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Headcount &amp; Role-level risk scores</a:t>
            </a:r>
            <a:endParaRPr lang="en-US" sz="850" dirty="0"/>
          </a:p>
        </p:txBody>
      </p:sp>
      <p:sp>
        <p:nvSpPr>
          <p:cNvPr id="60" name="Shape 53"/>
          <p:cNvSpPr/>
          <p:nvPr/>
        </p:nvSpPr>
        <p:spPr>
          <a:xfrm>
            <a:off x="5458968" y="3694176"/>
            <a:ext cx="1389888" cy="201168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5458968" y="369417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DAX</a:t>
            </a:r>
            <a:endParaRPr lang="en-US" sz="800" dirty="0"/>
          </a:p>
        </p:txBody>
      </p:sp>
      <p:sp>
        <p:nvSpPr>
          <p:cNvPr id="62" name="Shape 55"/>
          <p:cNvSpPr/>
          <p:nvPr/>
        </p:nvSpPr>
        <p:spPr>
          <a:xfrm>
            <a:off x="7004304" y="2093976"/>
            <a:ext cx="1572768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095744" y="21854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7095744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185416"/>
            <a:ext cx="237744" cy="237744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7077456" y="25054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67" name="Text 59"/>
          <p:cNvSpPr/>
          <p:nvPr/>
        </p:nvSpPr>
        <p:spPr>
          <a:xfrm>
            <a:off x="7095744" y="2807208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 architecture</a:t>
            </a:r>
            <a:endParaRPr lang="en-US" sz="850" dirty="0"/>
          </a:p>
        </p:txBody>
      </p:sp>
      <p:sp>
        <p:nvSpPr>
          <p:cNvPr id="68" name="Text 60"/>
          <p:cNvSpPr/>
          <p:nvPr/>
        </p:nvSpPr>
        <p:spPr>
          <a:xfrm>
            <a:off x="7095744" y="3136392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report canvas (1280×720)</a:t>
            </a:r>
            <a:endParaRPr lang="en-US" sz="850" dirty="0"/>
          </a:p>
        </p:txBody>
      </p:sp>
      <p:sp>
        <p:nvSpPr>
          <p:cNvPr id="69" name="Text 61"/>
          <p:cNvSpPr/>
          <p:nvPr/>
        </p:nvSpPr>
        <p:spPr>
          <a:xfrm>
            <a:off x="7095744" y="3465576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 + Teal + Coral visual theme</a:t>
            </a:r>
            <a:endParaRPr lang="en-US" sz="850" dirty="0"/>
          </a:p>
        </p:txBody>
      </p:sp>
      <p:sp>
        <p:nvSpPr>
          <p:cNvPr id="70" name="Shape 62"/>
          <p:cNvSpPr/>
          <p:nvPr/>
        </p:nvSpPr>
        <p:spPr>
          <a:xfrm>
            <a:off x="7095744" y="3694176"/>
            <a:ext cx="1389888" cy="201168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7095744" y="3694176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Power Query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457200" y="4059936"/>
            <a:ext cx="8229600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  <a:prstDash val="solid"/>
          </a:ln>
        </p:spPr>
      </p:sp>
      <p:pic>
        <p:nvPicPr>
          <p:cNvPr id="7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114800"/>
            <a:ext cx="228600" cy="228600"/>
          </a:xfrm>
          <a:prstGeom prst="rect">
            <a:avLst/>
          </a:prstGeom>
        </p:spPr>
      </p:pic>
      <p:sp>
        <p:nvSpPr>
          <p:cNvPr id="74" name="Text 65"/>
          <p:cNvSpPr/>
          <p:nvPr/>
        </p:nvSpPr>
        <p:spPr>
          <a:xfrm>
            <a:off x="868680" y="405993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</a:t>
            </a:r>
            <a:endParaRPr lang="en-US" sz="900" dirty="0"/>
          </a:p>
        </p:txBody>
      </p:sp>
      <p:sp>
        <p:nvSpPr>
          <p:cNvPr id="75" name="Shape 66"/>
          <p:cNvSpPr/>
          <p:nvPr/>
        </p:nvSpPr>
        <p:spPr>
          <a:xfrm>
            <a:off x="2148840" y="4133088"/>
            <a:ext cx="9144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67"/>
          <p:cNvSpPr/>
          <p:nvPr/>
        </p:nvSpPr>
        <p:spPr>
          <a:xfrm>
            <a:off x="2240280" y="40599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duplicates &amp; missing values   ·   3 engineered features   ·   8 EDA visualizations   ·   15+ DAX KPI measures   ·   5-page dashboard</a:t>
            </a:r>
            <a:endParaRPr lang="en-US" sz="900" dirty="0"/>
          </a:p>
        </p:txBody>
      </p:sp>
      <p:sp>
        <p:nvSpPr>
          <p:cNvPr id="77" name="Shape 68"/>
          <p:cNvSpPr/>
          <p:nvPr/>
        </p:nvSpPr>
        <p:spPr>
          <a:xfrm>
            <a:off x="7772400" y="4105656"/>
            <a:ext cx="841248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7772400" y="4105656"/>
            <a:ext cx="8412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cleaned_employee_data.csv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FINDINGS AND KEY KPI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237 departures out of 1,470 employees.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 critical baseline for workforce stability.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914400"/>
            <a:ext cx="36576" cy="36576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960120"/>
            <a:ext cx="47548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3944" y="104241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17720" y="101498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IMPACT (PRIMARY PREDICTOR)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17720" y="12527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overtime show a 30.5% attrition rate compared to only 10.4% for those without. This represents a 3× higher churn risk.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023360" y="2240280"/>
            <a:ext cx="47548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232257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2951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JOB ROLES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17720" y="25328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functional roles exhibit significantly higher volatility: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27889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2788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  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349240" y="2788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80760" y="27889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0760" y="2788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Technician  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812280" y="2788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543800" y="2788920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43800" y="27889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Specialist  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275320" y="2788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023360" y="3520440"/>
            <a:ext cx="475488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3602736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17720" y="357530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WORKFORCE RISK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617720" y="38130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18–25 Age Group experiences the highest churn at 36.2%. Entry-level pressure combined with early career re-evaluation drives this trend.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7200" y="4846320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IBM HR Analytics Employee Attrition &amp; Performance Dataset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858000" y="4892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Pradeep Nakate  |  Slide 5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178308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51560"/>
            <a:ext cx="2011680" cy="7315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320040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371600"/>
            <a:ext cx="3200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234440"/>
            <a:ext cx="320040" cy="5486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097280"/>
            <a:ext cx="320040" cy="68580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207008"/>
            <a:ext cx="365760" cy="365760"/>
          </a:xfrm>
          <a:prstGeom prst="ellipse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48840"/>
            <a:ext cx="201168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Executive Overview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914400"/>
            <a:ext cx="2286000" cy="1783080"/>
          </a:xfrm>
          <a:prstGeom prst="rect">
            <a:avLst/>
          </a:prstGeom>
          <a:solidFill>
            <a:srgbClr val="164E63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7520" y="1051560"/>
            <a:ext cx="2011680" cy="7315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1508760"/>
            <a:ext cx="320040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371600"/>
            <a:ext cx="3200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1234440"/>
            <a:ext cx="320040" cy="5486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097280"/>
            <a:ext cx="320040" cy="68580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1207008"/>
            <a:ext cx="365760" cy="365760"/>
          </a:xfrm>
          <a:prstGeom prst="ellipse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148840"/>
            <a:ext cx="201168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Attrition 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2286000" cy="1783080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017520"/>
            <a:ext cx="2011680" cy="7315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474720"/>
            <a:ext cx="320040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3337560"/>
            <a:ext cx="3200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3200400"/>
            <a:ext cx="320040" cy="5486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0" y="3063240"/>
            <a:ext cx="320040" cy="68580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172968"/>
            <a:ext cx="365760" cy="365760"/>
          </a:xfrm>
          <a:prstGeom prst="ellipse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114800"/>
            <a:ext cx="201168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Employee Demographics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80360" y="2880360"/>
            <a:ext cx="2286000" cy="1783080"/>
          </a:xfrm>
          <a:prstGeom prst="rect">
            <a:avLst/>
          </a:prstGeom>
          <a:solidFill>
            <a:srgbClr val="164E63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17520" y="3017520"/>
            <a:ext cx="2011680" cy="7315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63240" y="3474720"/>
            <a:ext cx="320040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3337560"/>
            <a:ext cx="3200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77640" y="3200400"/>
            <a:ext cx="320040" cy="54864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3063240"/>
            <a:ext cx="320040" cy="68580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3172968"/>
            <a:ext cx="365760" cy="365760"/>
          </a:xfrm>
          <a:prstGeom prst="ellipse">
            <a:avLst/>
          </a:prstGeom>
          <a:solidFill>
            <a:srgbClr val="F43F5E">
              <a:alpha val="7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4114800"/>
            <a:ext cx="2011680" cy="457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Salary &amp; Compensation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49240" y="914400"/>
            <a:ext cx="33375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49240" y="914400"/>
            <a:ext cx="36576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69848"/>
            <a:ext cx="256032" cy="256032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760720" y="100584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Attrition Analysis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760720" y="128016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KPIs, retention rates, and high-impact role risk matrices.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349240" y="1901952"/>
            <a:ext cx="33375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349240" y="1901952"/>
            <a:ext cx="36576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256032" cy="256032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5760720" y="199339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Demographics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5760720" y="22677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cohorts (18–25 risk profiling) and education field breakdowns.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5349240" y="2889504"/>
            <a:ext cx="33375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5349240" y="2889504"/>
            <a:ext cx="36576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044952"/>
            <a:ext cx="256032" cy="256032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5760720" y="2980944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Compensation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5760720" y="325526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band distributions, hike correlation, and stock option attrition.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5349240" y="3877056"/>
            <a:ext cx="33375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5349240" y="3877056"/>
            <a:ext cx="36576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032504"/>
            <a:ext cx="256032" cy="256032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5760720" y="396849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60" name="Text 54"/>
          <p:cNvSpPr/>
          <p:nvPr/>
        </p:nvSpPr>
        <p:spPr>
          <a:xfrm>
            <a:off x="5760720" y="424281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action checklists based on overtime and role-specific data.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5349240" y="4663440"/>
            <a:ext cx="33375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5394960" y="4663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000" dirty="0"/>
          </a:p>
        </p:txBody>
      </p:sp>
      <p:sp>
        <p:nvSpPr>
          <p:cNvPr id="63" name="Text 57"/>
          <p:cNvSpPr/>
          <p:nvPr/>
        </p:nvSpPr>
        <p:spPr>
          <a:xfrm>
            <a:off x="6263640" y="47091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DAX MEASURES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6263640" y="49194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Operational Tracking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HR RETENTION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5943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32688"/>
            <a:ext cx="5029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0972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8755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Overtime Burnout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26187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Establish 10-hour weekly overtime thresholds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Implement automated time-tracking software alerts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5943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55648"/>
            <a:ext cx="5029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202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81051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Career Growth Pathways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51560" y="208483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Define clear promotion cycles (12–18 months)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Create specialized horizontal career tracks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578608"/>
            <a:ext cx="5943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578608"/>
            <a:ext cx="5029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7432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63347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Optimization for High-Risk Roles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29077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Restructure base pay to match market medians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Adjust commission structures for Sales &amp; Lab Techs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401568"/>
            <a:ext cx="5943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01568"/>
            <a:ext cx="5029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5661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4564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&amp; Engagement Programs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37307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Match entry-level staff with senior mentors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Quarterly check-ins for high-risk age cohorts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4224528"/>
            <a:ext cx="5943600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" y="4224528"/>
            <a:ext cx="5029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38912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27939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Development Training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51560" y="455371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Train managers on burnout recognition &amp; feedback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Conduct anonymous 360-degree feedback reviews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583680" y="914400"/>
            <a:ext cx="210312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629400" y="1005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675120" y="1874520"/>
            <a:ext cx="192024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1947672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95160" y="19202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Policy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675120" y="2386584"/>
            <a:ext cx="192024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2" y="2459736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95160" y="24323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Pathways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675120" y="2898648"/>
            <a:ext cx="192024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2971800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995160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Bands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6675120" y="3410712"/>
            <a:ext cx="192024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272" y="3483864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995160" y="34564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KPIs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6675120" y="3922776"/>
            <a:ext cx="192024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272" y="3995928"/>
            <a:ext cx="201168" cy="20116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995160" y="39684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Training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818888"/>
            <a:ext cx="228600" cy="22860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68680" y="47548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interventions targeting top 5 attrition drivers.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 &amp; PROFESSIONAL SKILLS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SyntecxHub  |  Data Analytics Internship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029200" cy="868680"/>
          </a:xfrm>
          <a:prstGeom prst="rect">
            <a:avLst/>
          </a:prstGeom>
          <a:solidFill>
            <a:srgbClr val="F8FAFC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5720" cy="868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"Data-driven workforce decisions help organizations improve retention, reduce costs, and build stronger teams."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47472" cy="347472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02082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965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Records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end-to-end for attrition patterns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347472" cy="347472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61518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560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Dashboard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tracking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0954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3154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Dynamic DAX KPIs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HR metrics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749040"/>
            <a:ext cx="347472" cy="347472"/>
          </a:xfrm>
          <a:prstGeom prst="ellipse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80390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Policies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data-backed insights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760720" y="960120"/>
            <a:ext cx="29260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852160" y="10241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852160" y="1261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Power BI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852160" y="2121408"/>
            <a:ext cx="27432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852160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680960" y="1901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Verified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852160" y="2715768"/>
            <a:ext cx="27432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85216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680960" y="2496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Features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852160" y="3310128"/>
            <a:ext cx="27432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852160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68096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Grade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57200" y="4206240"/>
            <a:ext cx="19659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48640" y="42519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548640" y="44531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(Pandas/Seaborn)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2514600" y="4206240"/>
            <a:ext cx="19659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606040" y="42519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ENGINE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606040" y="44531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(DAX/Query)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572000" y="4206240"/>
            <a:ext cx="19659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663440" y="42519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4663440" y="44531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EDA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629400" y="4206240"/>
            <a:ext cx="19659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720840" y="425196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720840" y="445312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Storytelling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57200" y="4937760"/>
            <a:ext cx="8229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57200" y="4965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Pradeep Nakate  |  Data Analytics Intern  |  SyntecxHub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5486400" y="49651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github.com/Priyan2520   ·   linkedin.com/in/priya-nakate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Analytics Dashboard</dc:title>
  <dc:subject>PptxGenJS Presentation</dc:subject>
  <dc:creator>Priya Pradeep Nakate</dc:creator>
  <cp:lastModifiedBy>Priya Pradeep Nakate</cp:lastModifiedBy>
  <cp:revision>1</cp:revision>
  <dcterms:created xsi:type="dcterms:W3CDTF">2026-06-05T07:56:42Z</dcterms:created>
  <dcterms:modified xsi:type="dcterms:W3CDTF">2026-06-05T07:56:42Z</dcterms:modified>
</cp:coreProperties>
</file>